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E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F9B233"/>
          </a:solidFill>
          <a:ln/>
        </p:spPr>
      </p:sp>
      <p:pic>
        <p:nvPicPr>
          <p:cNvPr id="3" name="Image 0" descr="asse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0036" y="777240"/>
            <a:ext cx="2468880" cy="2468880"/>
          </a:xfrm>
          <a:prstGeom prst="ellipse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0" y="3429000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B233"/>
                </a:solidFill>
              </a:rPr>
              <a:t>JJMK Payroll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0" y="422452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ระบบเงินเดือนอัตโนมัติ ครบวงจร — จริงใจหมูกระทะ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C9C2"/>
                </a:solidFill>
              </a:rPr>
              <a:t>สแกนหน้า → คิดเงินอัตโนมัติ → สลิป &amp; โอนเงิน K BIZ → รายงาน LINE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9A94"/>
                </a:solidFill>
              </a:rPr>
              <a:t>บริษัท พากันรวย ฟู้ดส์ คอร์ปอเรชั่น จำกัด · สิงหาคม 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ระบบนี้ทำอะไรให้เรา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A5B"/>
                </a:solidFill>
              </a:rPr>
              <a:t>โปรแกรมเดียวจบ ตั้งแต่พนักงานสแกนหน้า จนเงินเดือนเข้าบัญชี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0" descr="icons/fingerpri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27" y="1704807"/>
            <a:ext cx="266273" cy="2662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61288" y="1527048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เก็บเวลาเข้า-ออกอัตโนมัติ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61288" y="1819656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พนักงานสแกนหน้า ข้อมูลวิ่งเข้าระบบทันที ไม่ต้องจดไม่ต้องกรอก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770632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9" name="Image 1" descr="icons/mone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7" y="2875239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61288" y="2697480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คิดเงินเดือนให้เองทั้งหมด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61288" y="299008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ค่าแรง สาย ลืมตอก OT เบี้ยขยัน เงินประกัน เบิก MOU — อัตโนมัติทุกบาท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941064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3" name="Image 2" descr="icons/pri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27" y="4045671"/>
            <a:ext cx="266273" cy="26627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61288" y="3867912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สลิป + ไฟล์โอนเงินธนาคาร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61288" y="416052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พิมพ์สลิปทั้งร้านในไม่กี่คลิก และไฟล์อัปโหลด K BIZ โอนเงินทีเดียวทั้งสาขา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5111496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7" name="Image 3" descr="icons/li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27" y="521610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61288" y="5038344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รายงานเข้ากลุ่ม LINE เอง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161288" y="533095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ใครมา ใครสาย ใครหาย รายงานทุกกะ + สรุปทุกคืน โดยไม่ต้องเปิดแอป</a:t>
            </a:r>
            <a:endParaRPr lang="en-US" sz="1200" dirty="0"/>
          </a:p>
        </p:txBody>
      </p:sp>
      <p:pic>
        <p:nvPicPr>
          <p:cNvPr id="20" name="Image 4" descr="shots/01_to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554480"/>
            <a:ext cx="5577840" cy="3476045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โครงสร้างระบบ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A5B"/>
                </a:solidFill>
              </a:rPr>
              <a:t>ทุกชิ้นทำงานเองอัตโนมัติ ไม่ต้องมีคนดูแลเซิร์ฟเวอร์ · ค่าใช้จ่ายระบบ 0 บาท/เดือน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6756" y="2176272"/>
            <a:ext cx="566928" cy="56692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6" name="Image 0" descr="icons/fingerpri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480" y="23009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เครื่องสแกนใบหน้า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3163824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ZKTeco + Hikvision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ติดหน้าร้านทุกสาขา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สแกนปุ๊บส่งข้อมูลทันที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044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4276" y="2176272"/>
            <a:ext cx="566928" cy="56692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1" name="Image 1" descr="icons/clou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000" y="23009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Cloudflare Worker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648456" y="3163824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ตัวรับข้อมูลกลางทาง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สร้างพนักงานใหม่เอง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ส่งรายงาน LINE ตามเวลา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37960" y="192024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7E1418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11796" y="2176272"/>
            <a:ext cx="566928" cy="566928"/>
          </a:xfrm>
          <a:prstGeom prst="ellipse">
            <a:avLst/>
          </a:prstGeom>
          <a:solidFill>
            <a:srgbClr val="F9B233"/>
          </a:solidFill>
          <a:ln/>
        </p:spPr>
      </p:sp>
      <p:pic>
        <p:nvPicPr>
          <p:cNvPr id="16" name="Image 2" descr="icons/db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520" y="230099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629400" y="2834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Supabase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65976" y="3163824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D9D5"/>
                </a:solidFill>
              </a:rPr>
              <a:t>ฐานข้อมูลบนคลาวด์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9D5"/>
                </a:solidFill>
              </a:rPr>
              <a:t>เก็บทุกอย่างถาวร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D9D5"/>
                </a:solidFill>
              </a:rPr>
              <a:t>sync สดถึงหน้าจอทันที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555480" y="1920240"/>
            <a:ext cx="2130552" cy="2286000"/>
          </a:xfrm>
          <a:prstGeom prst="roundRect">
            <a:avLst>
              <a:gd name="adj" fmla="val 5150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337292" y="2176272"/>
            <a:ext cx="566928" cy="56692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1" name="Image 3" descr="icons/glob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016" y="230099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46920" y="283464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เว็บแอป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683496" y="316382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เปิดได้ทุกที่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คอม + iPhone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GitHub Pages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072384" y="2916936"/>
            <a:ext cx="402336" cy="292608"/>
          </a:xfrm>
          <a:prstGeom prst="rightArrow">
            <a:avLst/>
          </a:prstGeom>
          <a:solidFill>
            <a:srgbClr val="F9B233"/>
          </a:solidFill>
          <a:ln/>
        </p:spPr>
      </p:sp>
      <p:sp>
        <p:nvSpPr>
          <p:cNvPr id="25" name="Shape 19"/>
          <p:cNvSpPr/>
          <p:nvPr/>
        </p:nvSpPr>
        <p:spPr>
          <a:xfrm>
            <a:off x="6089904" y="2916936"/>
            <a:ext cx="402336" cy="292608"/>
          </a:xfrm>
          <a:prstGeom prst="rightArrow">
            <a:avLst/>
          </a:prstGeom>
          <a:solidFill>
            <a:srgbClr val="F9B233"/>
          </a:solidFill>
          <a:ln/>
        </p:spPr>
      </p:sp>
      <p:sp>
        <p:nvSpPr>
          <p:cNvPr id="26" name="Shape 20"/>
          <p:cNvSpPr/>
          <p:nvPr/>
        </p:nvSpPr>
        <p:spPr>
          <a:xfrm>
            <a:off x="9107424" y="2916936"/>
            <a:ext cx="402336" cy="292608"/>
          </a:xfrm>
          <a:prstGeom prst="rightArrow">
            <a:avLst/>
          </a:prstGeom>
          <a:solidFill>
            <a:srgbClr val="F9B233"/>
          </a:solidFill>
          <a:ln/>
        </p:spPr>
      </p:sp>
      <p:sp>
        <p:nvSpPr>
          <p:cNvPr id="27" name="Shape 21"/>
          <p:cNvSpPr/>
          <p:nvPr/>
        </p:nvSpPr>
        <p:spPr>
          <a:xfrm>
            <a:off x="3520440" y="4709160"/>
            <a:ext cx="5532120" cy="1051560"/>
          </a:xfrm>
          <a:prstGeom prst="roundRect">
            <a:avLst>
              <a:gd name="adj" fmla="val 10435"/>
            </a:avLst>
          </a:prstGeom>
          <a:solidFill>
            <a:srgbClr val="E8F7EC"/>
          </a:solidFill>
          <a:ln w="12700">
            <a:solidFill>
              <a:srgbClr val="BBE3C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703320" y="4956048"/>
            <a:ext cx="548640" cy="548640"/>
          </a:xfrm>
          <a:prstGeom prst="ellipse">
            <a:avLst/>
          </a:prstGeom>
          <a:solidFill>
            <a:srgbClr val="06C755"/>
          </a:solidFill>
          <a:ln/>
        </p:spPr>
      </p:sp>
      <p:pic>
        <p:nvPicPr>
          <p:cNvPr id="29" name="Image 4" descr="icons/lin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021" y="5076749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43484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2E"/>
                </a:solidFill>
              </a:rPr>
              <a:t>รายงานอัตโนมัติเข้ากลุ่ม LINE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434840" y="5175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7D4E"/>
                </a:solidFill>
              </a:rPr>
              <a:t>รายกะ 11:01 / 15:01 / 18:01 · สรุปประจำวัน 21:00 · แยกข้อความรายสาขา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สาขา และรอบเงินเดือน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272E"/>
                </a:solidFill>
              </a:rPr>
              <a:t>JJLP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B25"/>
                </a:solidFill>
              </a:rPr>
              <a:t>ลาดพร้าว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สาขาหลัก · เครื่องสแกน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272E"/>
                </a:solidFill>
              </a:rPr>
              <a:t>JJRD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B25"/>
                </a:solidFill>
              </a:rPr>
              <a:t>รัชดา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เครื่องสแกนของตัวเอง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272E"/>
                </a:solidFill>
              </a:rPr>
              <a:t>JJCK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B25"/>
                </a:solidFill>
              </a:rPr>
              <a:t>ครัวกลาง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ใช้เครื่องลาดพร้าว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ไม่นับข้ามสาขา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146304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272E"/>
                </a:solidFill>
              </a:rPr>
              <a:t>OFFICE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B25"/>
                </a:solidFill>
              </a:rPr>
              <a:t>ออฟฟิศ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258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ส่วนกลาง · ยกเว้นกฎห้ามหยุด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B25"/>
                </a:solidFill>
              </a:rPr>
              <a:t>รอบเงินเดือน 1 งวด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40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272E"/>
                </a:solidFill>
              </a:rPr>
              <a:t>26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370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B25"/>
                </a:solidFill>
              </a:rPr>
              <a:t>เปิดงวด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วันที่ 26 ของเดือนก่อน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80360" y="37033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7520" y="3840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272E"/>
                </a:solidFill>
              </a:rPr>
              <a:t>15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4370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B25"/>
                </a:solidFill>
              </a:rPr>
              <a:t>เบิกกลางเดือน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เบิกล่วงหน้าได้ตามสิทธิ์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57800" y="37033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0" y="3840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272E"/>
                </a:solidFill>
              </a:rPr>
              <a:t>25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370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B25"/>
                </a:solidFill>
              </a:rPr>
              <a:t>ตัดรอบ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ปิดงวด สรุปยอดทั้งเดือน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35240" y="37033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FFF3D6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3840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791F"/>
                </a:solidFill>
              </a:rPr>
              <a:t>1-4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4370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B25"/>
                </a:solidFill>
              </a:rPr>
              <a:t>ตรวจ + พิมพ์สลิป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0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ตรวจยอด แก้ไข พิมพ์แจก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012680" y="3703320"/>
            <a:ext cx="2148840" cy="1554480"/>
          </a:xfrm>
          <a:prstGeom prst="roundRect">
            <a:avLst>
              <a:gd name="adj" fmla="val 7059"/>
            </a:avLst>
          </a:prstGeom>
          <a:solidFill>
            <a:srgbClr val="E8F7EC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49840" y="3840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9E44"/>
                </a:solidFill>
              </a:rPr>
              <a:t>5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4370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B25"/>
                </a:solidFill>
              </a:rPr>
              <a:t>จ่ายเงินเดือน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663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โอนผ่าน K BIZ / เงินสด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5B"/>
                </a:solidFill>
              </a:rPr>
              <a:t>จุดตัดวัน 06:00 น. — สแกนก่อนตี 6 นับเป็นกะเย็นของเมื่อวาน (กะข้ามคืนไม่มีเพี้ยน)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หน้า "วันนี้" — เห็นทั้งร้านในจอเดียว</a:t>
            </a:r>
            <a:endParaRPr lang="en-US" sz="3200" dirty="0"/>
          </a:p>
        </p:txBody>
      </p:sp>
      <p:pic>
        <p:nvPicPr>
          <p:cNvPr id="3" name="Image 0" descr="shots/01_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675120" cy="4159857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543800" y="155448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1" descr="icons/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407" y="1659087"/>
            <a:ext cx="266273" cy="266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02168" y="148132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อัปเดตสดจากเครื่องสแกน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202168" y="1773936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พนักงานสแกนปุ๊บ ชื่อขึ้นจอทันที ไม่ต้องรีเฟรช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543800" y="2670048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9" name="Image 2" descr="icons/stor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407" y="2774655"/>
            <a:ext cx="266273" cy="26627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02168" y="259689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แยกการ์ดรายสาขา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202168" y="2889504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ลาดพร้าว · รัชดา · ครัวกลาง · ออฟฟิศ — เห็นครบพร้อมกัน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543800" y="3785616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3" name="Image 3" descr="icons/su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07" y="3890223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202168" y="371246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จัดกลุ่มกะตามเวลาเข้า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202168" y="40050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ก่อน 14:00 กะเช้า · 14-17 กะกลาง · หลัง 17:00 กะเย็น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543800" y="4901184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7" name="Image 4" descr="icons/war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407" y="5005791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02168" y="482803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รู้ทันทีว่าใครสาย-ใครหาย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8202168" y="5120640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สายกี่นาที ใครยังไม่มา ใครมาช่วยจากสาขาอื่น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ข้อมูลพนักงาน — ครบในที่เดียว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4" name="Image 0" descr="icons/userplu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27" y="1704807"/>
            <a:ext cx="266273" cy="2662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" y="152704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พนักงานใหม่ ระบบสร้างให้เอง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61288" y="181965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สแกนหน้าครั้งแรก = สร้างประวัติอัตโนมัติ รายเดือน 12,000 + จดวันเริ่มงาน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770632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8" name="Image 1" descr="icons/cal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7" y="2875239"/>
            <a:ext cx="266273" cy="26627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61288" y="269748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วันเริ่มงาน - วันสิ้นสุด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61288" y="2990088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เข้าหลังเปิดงวด/ออกก่อนตัดรอบ งวดนั้นคิดเป็นรายวันให้อัตโนมัติ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" y="3941064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2" name="Image 2" descr="icons/ban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27" y="4045671"/>
            <a:ext cx="266273" cy="26627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61288" y="3867912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บัญชีธนาคาร + K BIZ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61288" y="416052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เก็บเลขบัญชี ธนาคาร และจำว่าใครแอดเข้า K BIZ แล้ว ไม่ใส่ซ้ำ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" y="5111496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6" name="Image 3" descr="icons/war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27" y="5216103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61288" y="5038344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ปุ่มกระพริบเตือนข้อมูลขาด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61288" y="5330952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แดง = ขาดวันเกิด/เบอร์/บัญชี · ฟ้า = รับเงินสด</a:t>
            </a:r>
            <a:endParaRPr lang="en-US" sz="1200" dirty="0"/>
          </a:p>
        </p:txBody>
      </p:sp>
      <p:pic>
        <p:nvPicPr>
          <p:cNvPr id="19" name="Image 4" descr="shots/03_emp_for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417320"/>
            <a:ext cx="4206240" cy="2621280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pic>
        <p:nvPicPr>
          <p:cNvPr id="20" name="Image 5" descr="shots/02_e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3108960"/>
            <a:ext cx="3840480" cy="2393343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กฎการคิดเงิน — ระบบคิดให้ทุกบาท ไม่ต้องกดเครื่องคิดเลข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1645920"/>
            <a:ext cx="457200" cy="457200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0" descr="icons/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465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71016" y="160934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25"/>
                </a:solidFill>
              </a:rPr>
              <a:t>มาสาย / ออกก่อน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271016" y="19202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หักนาทีละ 1.50 บาท (อนุโลม 5 นาทีแรก) — นับจากเวลากะของแต่ละคนจริงๆ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62272" y="1645920"/>
            <a:ext cx="457200" cy="457200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0" name="Image 1" descr="icons/war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7465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65776" y="160934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25"/>
                </a:solidFill>
              </a:rPr>
              <a:t>ลืมตอกบัตร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5065776" y="19202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สแกนขาเดียว (ลืมเข้า/ลืมออก) ปรับครั้งละ 200 บาท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2440" y="146304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DE3E1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57032" y="1645920"/>
            <a:ext cx="457200" cy="457200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5" name="Image 2" descr="icons/cal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7465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860536" y="160934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25"/>
                </a:solidFill>
              </a:rPr>
              <a:t>หยุดวันห้ามหยุด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8860536" y="19202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ศ-ส-อา + วันหยุดพิเศษ หัก 2 เท่าของค่าแรงวัน (เช่น 400 → หัก 800)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2920" y="310896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E8F7EC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7512" y="3291840"/>
            <a:ext cx="457200" cy="457200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0" name="Image 3" descr="icons/che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3924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71016" y="32552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25"/>
                </a:solidFill>
              </a:rPr>
              <a:t>เบี้ยไม่หยุด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271016" y="3566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รายเดือนที่ไม่ใช้สิทธิ์วันหยุดเลย ได้เพิ่มวันละ 400 บาท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297680" y="310896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E8F7EC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62272" y="3291840"/>
            <a:ext cx="457200" cy="457200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5" name="Image 4" descr="icons/su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39242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65776" y="32552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25"/>
                </a:solidFill>
              </a:rPr>
              <a:t>เบี้ยวันหยุดพิเศษ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5065776" y="3566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มาทำงานวันหยุดพิเศษ ได้ค่าแรงคูณตามตัวคูณ (ไม่สาย ไม่ลืมตอก)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92440" y="3108960"/>
            <a:ext cx="3657600" cy="1481328"/>
          </a:xfrm>
          <a:prstGeom prst="roundRect">
            <a:avLst>
              <a:gd name="adj" fmla="val 617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57032" y="3291840"/>
            <a:ext cx="457200" cy="457200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30" name="Image 5" descr="icons/userplu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339242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60536" y="32552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25"/>
                </a:solidFill>
              </a:rPr>
              <a:t>เข้า-ออกกลางงวด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860536" y="356616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6A5B"/>
                </a:solidFill>
              </a:rPr>
              <a:t>รายเดือนที่อยู่ไม่ครบงวด คิดเป็น วันทำงาน × เงินเดือน÷30 อัตโนมัติ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02920" y="489204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FF3D6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35" name="Image 6" descr="icons/edi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" y="5231282"/>
            <a:ext cx="281635" cy="28163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5074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5A12"/>
                </a:solidFill>
              </a:rPr>
              <a:t>หักผิด แก้ได้เสมอ — ทุกยอดหักอัตโนมัติมีปุ่ม ✎ ปรับเป็นยอดจริงเฉพาะงวดนั้นได้ (0 = ไม่หัก · เว้นว่าง = กลับอัตโนมัติ) และมีข้อยกเว้นอัตโนมัติให้ผู้จัดการ/ออฟฟิศ/รายชั่วโมง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OT รายวัน — กด − / ＋ จบเลย</a:t>
            </a:r>
            <a:endParaRPr lang="en-US" sz="3200" dirty="0"/>
          </a:p>
        </p:txBody>
      </p:sp>
      <p:pic>
        <p:nvPicPr>
          <p:cNvPr id="3" name="Image 0" descr="shots/04b_detail_p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675120" cy="4159857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543800" y="155448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1" descr="icons/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407" y="1659087"/>
            <a:ext cx="266273" cy="266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02168" y="148132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ตัวนับ OT ในตารางเข้างาน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202168" y="1773936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กด ＋ เพิ่มทีละชั่วโมง พิมพ์ 1.5 ได้ บันทึกทันที เห็นยอดเงินใต้ช่อง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543800" y="2670048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9" name="Image 2" descr="icons/char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407" y="2774655"/>
            <a:ext cx="266273" cy="26627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02168" y="259689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อัตราคิดให้เองรายคน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202168" y="2889504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ค่าแรงวัน ÷ (ชั่วโมงกะ − 1 ชม.พัก) เช่น 12,000 → 400 ÷ 8 = 50 บ./ชม.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543800" y="3785616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3" name="Image 3" descr="icons/edi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07" y="3890223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202168" y="371246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แก้รายการหักที่ผิด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202168" y="4005072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ปุ่ม ✎ ข้างยอดหัก สาย/ลืมตอก/วันห้ามหยุด แก้เฉพาะงวดได้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543800" y="4901184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7" name="Image 4" descr="icons/history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407" y="5005791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202168" y="482803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ประวัติเงินเดือนย้อนหลัง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8202168" y="5120640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เปิดดูย้อนหลังได้ทุกงวด ตัวเลขคำนวณสดจากข้อมูลจริงเสมอ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สรุปเงินเดือน — ทั้งร้านในตารางเดียว</a:t>
            </a:r>
            <a:endParaRPr lang="en-US" sz="3200" dirty="0"/>
          </a:p>
        </p:txBody>
      </p:sp>
      <p:pic>
        <p:nvPicPr>
          <p:cNvPr id="3" name="Image 0" descr="shots/06_pay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7223760" cy="4501763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046720" y="173736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1" descr="icons/char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327" y="1841967"/>
            <a:ext cx="266273" cy="266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705088" y="166420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เห็นทุกคน ทุกยอด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705088" y="195681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วัน ชม. สาย ลืมตอก เบิก ประกัน ค่าแรง สุทธิ — ครบทุกคอลัมน์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046720" y="297180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9" name="Image 2" descr="icons/task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327" y="3076407"/>
            <a:ext cx="266273" cy="26627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05088" y="289864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ตัวกรองครบ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705088" y="319125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สาขา แผนก ตำแหน่ง สถานะทำงานอยู่/พ้นสภาพ และธงปัญหา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46720" y="420624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3" name="Image 3" descr="icons/exce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327" y="4310847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05088" y="413308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Export Excel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705088" y="442569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ดึงทั้งตารางออกเป็นไฟล์ Excel เก็บบัญชี/ตรวจสอบ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สลิปเงินเดือน — โปร่งใส เห็นทุกรายการ</a:t>
            </a:r>
            <a:endParaRPr lang="en-US" sz="3200" dirty="0"/>
          </a:p>
        </p:txBody>
      </p:sp>
      <p:pic>
        <p:nvPicPr>
          <p:cNvPr id="3" name="Image 0" descr="shots/08_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675120" cy="4159857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543800" y="173736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1" descr="icons/invoic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407" y="1841967"/>
            <a:ext cx="266273" cy="266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02168" y="166420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รายละเอียดครบทุกวัน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202168" y="1956816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ตารางเข้า-ออกทั้งงวด รายรับ รายการหัก ยอดสุทธิ พร้อมโลโก้ร้าน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543800" y="297180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9" name="Image 2" descr="icons/prin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407" y="3076407"/>
            <a:ext cx="266273" cy="26627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02168" y="289864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พิมพ์ 2 คน/แผ่น A4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202168" y="3191256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แบบครึ่งหน้าประหยัดกระดาษ มีเส้นปะตัดแบ่งพอดี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543800" y="420624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3" name="Image 3" descr="icons/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407" y="4310847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202168" y="413308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เลือกคนพิมพ์ได้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202168" y="4425696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ติ๊กเฉพาะคนที่ต้องการ กรองสาขา/ตำแหน่ง/สถานะในหน้าต่างเลือก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เบิกกลางเดือน — คุมเพดานให้อัตโนมัติ</a:t>
            </a:r>
            <a:endParaRPr lang="en-US" sz="3200" dirty="0"/>
          </a:p>
        </p:txBody>
      </p:sp>
      <p:pic>
        <p:nvPicPr>
          <p:cNvPr id="3" name="Image 0" descr="shots/10_ad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7223760" cy="4501763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046720" y="173736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1" descr="icons/h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327" y="1841967"/>
            <a:ext cx="266273" cy="266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705088" y="166420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พิมพ์ยอดแล้ว Enter จบ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705088" y="195681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บันทึกเบิกรายคนเร็วมาก มีช่องกรอกในตารางเลย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046720" y="297180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9" name="Image 2" descr="icons/shiel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327" y="3076407"/>
            <a:ext cx="266273" cy="26627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05088" y="289864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เพดาน 2 ชั้น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705088" y="319125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ไม่เกิน 3,000 และไม่เกิน 50% ของค่าแรงที่ทำมาแล้ว — เกินได้แต่ระบบเตือนให้ยืนยัน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46720" y="420624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3" name="Image 3" descr="icons/mone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327" y="4310847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05088" y="413308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หักคืนอัตโนมัติ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8705088" y="4425696"/>
            <a:ext cx="3090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ยอดเบิกไปหักในเงินเดือนสิ้นงวดเองครบถ้วน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โอนเงินผ่าน K BIZ กสิกร — อัปโหลดไฟล์เดียว จ่ายทั้งสาขา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B25"/>
                </a:solidFill>
              </a:rPr>
              <a:t>🏦 ไฟล์แอดบัญชี (ทำครั้งเดียวต่อคน)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A6A5B"/>
                </a:solidFill>
              </a:rPr>
              <a:t>ปุ่มในหน้าพนักงาน → เลือกสาขา → ได้ไฟล์ Excel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A6A5B"/>
                </a:solidFill>
              </a:rPr>
              <a:t>ใส่เฉพาะคนใหม่ที่ยังไม่เคยแอด — ระบบจำให้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A6A5B"/>
                </a:solidFill>
              </a:rPr>
              <a:t>บัญชีร่วมใส่ครั้งเดียว · คนใช้ไม่ได้แจ้งรายชื่อพร้อมเหตุผล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50876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B25"/>
                </a:solidFill>
              </a:rPr>
              <a:t>💸 ไฟล์โอนเบิกกลางเดือน (ทุกรอบเบิก)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4884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A6A5B"/>
                </a:solidFill>
              </a:rPr>
              <a:t>ปุ่มในหน้าเบิก → เลือกสาขา → ใส่วันเงินเข้า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A6A5B"/>
                </a:solidFill>
              </a:rPr>
              <a:t>รวมยอดเบิกทั้งงวดต่อคน ตามฟอร์แมตธนาคารเป๊ะ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8A6A5B"/>
                </a:solidFill>
              </a:rPr>
              <a:t>คนรับเงินสด/ต่างธนาคาร แจ้งแยกให้ไปจ่ายเอง</a:t>
            </a:r>
            <a:endParaRPr lang="en-US" sz="1200" dirty="0"/>
          </a:p>
        </p:txBody>
      </p:sp>
      <p:pic>
        <p:nvPicPr>
          <p:cNvPr id="9" name="Image 0" descr="shots/09_kbiz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343400"/>
            <a:ext cx="3108960" cy="1937468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10" name="Text 7"/>
          <p:cNvSpPr txBox="1"/>
          <p:nvPr/>
        </p:nvSpPr>
        <p:spPr>
          <a:xfrm>
            <a:off x="6492240" y="4937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6A5B"/>
                </a:solidFill>
              </a:rPr>
              <a:t>ตามเทมเพลทธนาคาร: เฉพาะบัญชีกสิกร (รหัส 004) · เลขบัญชี 10 หลัก · วันเงินเข้าต้องเป็นวันอนาคต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เงินประกัน &amp; เงินยืม MOU — ผ่อนหักเองจนครบ</a:t>
            </a:r>
            <a:endParaRPr lang="en-US" sz="3200" dirty="0"/>
          </a:p>
        </p:txBody>
      </p:sp>
      <p:pic>
        <p:nvPicPr>
          <p:cNvPr id="3" name="Image 0" descr="shots/11_d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486400" cy="3419061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pic>
        <p:nvPicPr>
          <p:cNvPr id="4" name="Image 1" descr="shots/12_mo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486400" cy="3419061"/>
          </a:xfrm>
          <a:prstGeom prst="ellipse">
            <a:avLst/>
          </a:prstGeom>
          <a:effectLst>
            <a:outerShdw sx="100000" sy="100000" kx="0" ky="0" algn="bl" rotWithShape="0" blurRad="177800" dist="63500" dir="5400000">
              <a:srgbClr val="6B4A3A">
                <a:alpha val="3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02920" y="5166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B25"/>
                </a:solidFill>
              </a:rPr>
              <a:t>เงินประกัน: </a:t>
            </a:r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เป้า 5,000 หักเดือนละ 500 เริ่มงวด ส.ค. 2569 · ครบแล้วหยุดเอง · แก้รายงวดได้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5166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2B25"/>
                </a:solidFill>
              </a:rPr>
              <a:t>เงินยืม MOU: </a:t>
            </a:r>
            <a:pPr indent="0" marL="0">
              <a:buNone/>
            </a:pPr>
            <a:r>
              <a:rPr lang="en-US" sz="1200" dirty="0">
                <a:solidFill>
                  <a:srgbClr val="8A6A5B"/>
                </a:solidFill>
              </a:rPr>
              <a:t>15,000 ผ่อนเดือนละ 2,000 งวดสุดท้ายปิด 3,000 · ระบบเตือนคืน Passport/บัตรชมพูเมื่อครบ + สมุดยืมเอกสาร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รายงาน LINE อัตโนมัติ — ไม่เปิดแอปก็รู้ทุกอย่าง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640080" cy="640080"/>
          </a:xfrm>
          <a:prstGeom prst="ellipse">
            <a:avLst/>
          </a:prstGeom>
          <a:solidFill>
            <a:srgbClr val="06C755"/>
          </a:solidFill>
          <a:ln/>
        </p:spPr>
      </p:sp>
      <p:pic>
        <p:nvPicPr>
          <p:cNvPr id="4" name="Image 0" descr="icons/lin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169529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25"/>
                </a:solidFill>
              </a:rPr>
              <a:t>ส่งเข้ากลุ่ม LINE ของร้าน แยกข้อความรายสาขา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E8F7EC"/>
          </a:solidFill>
          <a:ln w="12700">
            <a:solidFill>
              <a:srgbClr val="BBE3C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404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2E"/>
                </a:solidFill>
              </a:rPr>
              <a:t>🌅 รายงานรายกะ — 11:01 / 15:01 / 18:01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7D4E"/>
                </a:solidFill>
              </a:rPr>
              <a:t>เข้างานแล้วกี่คน แยกตามตำแหน่ง · ใครมาสายกี่นาที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7D4E"/>
                </a:solidFill>
              </a:rPr>
              <a:t>· ใคร "ปกติอยู่กะนี้" แต่วันนี้ยังไม่โผล่ (ระบบเรียนรู้จากประวัติ 14 วัน)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228600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E8F7EC"/>
          </a:solidFill>
          <a:ln w="12700">
            <a:solidFill>
              <a:srgbClr val="BBE3C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404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2E"/>
                </a:solidFill>
              </a:rPr>
              <a:t>📋 สรุปประจำวัน — 21:00 ทุกคืน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697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7D4E"/>
                </a:solidFill>
              </a:rPr>
              <a:t>นับหัวต่อกะ + รายชื่อคนสาย + คนไม่มา แยกทุกสาขา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E7D4E"/>
                </a:solidFill>
              </a:rPr>
              <a:t>· ปิดท้ายยอดรวมทั้งบริษัท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931920"/>
            <a:ext cx="5486400" cy="1234440"/>
          </a:xfrm>
          <a:prstGeom prst="roundRect">
            <a:avLst>
              <a:gd name="adj" fmla="val 10370"/>
            </a:avLst>
          </a:prstGeom>
          <a:solidFill>
            <a:srgbClr val="E8F7EC"/>
          </a:solidFill>
          <a:ln w="12700">
            <a:solidFill>
              <a:srgbClr val="BBE3C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050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2E"/>
                </a:solidFill>
              </a:rPr>
              <a:t>🧪 สั่งดูเองได้ทุกเมื่อ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7D4E"/>
                </a:solidFill>
              </a:rPr>
              <a:t>เปิดลิงก์ /report/daily หรือ /report/shift ดูตัวอย่างก่อนส่งจริงได้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3931920"/>
            <a:ext cx="5486400" cy="1234440"/>
          </a:xfrm>
          <a:prstGeom prst="roundRect">
            <a:avLst>
              <a:gd name="adj" fmla="val 10370"/>
            </a:avLst>
          </a:prstGeom>
          <a:solidFill>
            <a:srgbClr val="E8F7EC"/>
          </a:solidFill>
          <a:ln w="12700">
            <a:solidFill>
              <a:srgbClr val="BBE3C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4050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2E"/>
                </a:solidFill>
              </a:rPr>
              <a:t>🖥️ หน้าตรวจระบบ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343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7D4E"/>
                </a:solidFill>
              </a:rPr>
              <a:t>/debug และ /report/check เช็คว่าเครื่องสแกน-ฐานข้อมูล-LINE ต่อกันครบ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5B"/>
                </a:solidFill>
              </a:rPr>
              <a:t>ตั้งเวลาด้วย Cron บน Cloudflare — ทำงานเองทุกวัน ไม่ต้องมีใครกด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ขั้นตอนการทำเงินเดือนแต่ละเดือน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A5B"/>
                </a:solidFill>
              </a:rPr>
              <a:t>งานคนทำเหลือแค่ตรวจกับกดพิมพ์ — ที่เหลือระบบทำให้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691640" cy="621792"/>
          </a:xfrm>
          <a:prstGeom prst="roundRect">
            <a:avLst>
              <a:gd name="adj" fmla="val 14706"/>
            </a:avLst>
          </a:prstGeom>
          <a:solidFill>
            <a:srgbClr val="FBEFD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276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272E"/>
                </a:solidFill>
              </a:rPr>
              <a:t>ทุกวัน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95728" y="155448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7" name="Image 0" descr="icons/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335" y="1659087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63240" y="160934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B25"/>
                </a:solidFill>
              </a:rPr>
              <a:t>พนักงานสแกนหน้า · เจ้าของเปิดหน้า "วันนี้" หรือรอ LINE รายงาน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267712"/>
            <a:ext cx="1691640" cy="621792"/>
          </a:xfrm>
          <a:prstGeom prst="roundRect">
            <a:avLst>
              <a:gd name="adj" fmla="val 14706"/>
            </a:avLst>
          </a:prstGeom>
          <a:solidFill>
            <a:srgbClr val="FBEFD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4140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272E"/>
                </a:solidFill>
              </a:rPr>
              <a:t>วันที่ 12-14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395728" y="2340864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2" name="Image 1" descr="icons/h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35" y="2445471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2395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B25"/>
                </a:solidFill>
              </a:rPr>
              <a:t>พนักงานขอเบิก → บันทึกในหน้าเบิกกลางเดือน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3054096"/>
            <a:ext cx="1691640" cy="621792"/>
          </a:xfrm>
          <a:prstGeom prst="roundRect">
            <a:avLst>
              <a:gd name="adj" fmla="val 14706"/>
            </a:avLst>
          </a:prstGeom>
          <a:solidFill>
            <a:srgbClr val="FBEFD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02920" y="32004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272E"/>
                </a:solidFill>
              </a:rPr>
              <a:t>วันที่ 15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2395728" y="3127248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7" name="Image 2" descr="icons/ban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35" y="3231855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63240" y="318211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B25"/>
                </a:solidFill>
              </a:rPr>
              <a:t>กด 🏦 สร้างไฟล์โอน K BIZ → อัปโหลด → อนุมัติ → เงินเข้าวันถัดไป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3840480"/>
            <a:ext cx="1691640" cy="621792"/>
          </a:xfrm>
          <a:prstGeom prst="roundRect">
            <a:avLst>
              <a:gd name="adj" fmla="val 14706"/>
            </a:avLst>
          </a:prstGeom>
          <a:solidFill>
            <a:srgbClr val="FBEF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02920" y="39867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272E"/>
                </a:solidFill>
              </a:rPr>
              <a:t>วันที่ 26-31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2395728" y="3913632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2" name="Image 3" descr="icons/task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35" y="4018239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063240" y="396849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B25"/>
                </a:solidFill>
              </a:rPr>
              <a:t>เข้าหน้าสรุปเงินเดือน ตรวจธงเตือน: ลืมตอก สาย หยุดวันห้ามหยุด → แก้ที่ผิด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02920" y="4626864"/>
            <a:ext cx="1691640" cy="621792"/>
          </a:xfrm>
          <a:prstGeom prst="roundRect">
            <a:avLst>
              <a:gd name="adj" fmla="val 14706"/>
            </a:avLst>
          </a:prstGeom>
          <a:solidFill>
            <a:srgbClr val="FBEFD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02920" y="4773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4272E"/>
                </a:solidFill>
              </a:rPr>
              <a:t>วันที่ 1-4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2395728" y="4700016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7" name="Image 4" descr="icons/prin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35" y="4804623"/>
            <a:ext cx="266273" cy="26627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063240" y="4754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B25"/>
                </a:solidFill>
              </a:rPr>
              <a:t>ใส่ OT/โบนัส/หักพิเศษ → พิมพ์สลิปทั้งร้าน (เลือกคนได้) → เตรียมโอน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02920" y="5413248"/>
            <a:ext cx="1691640" cy="621792"/>
          </a:xfrm>
          <a:prstGeom prst="roundRect">
            <a:avLst>
              <a:gd name="adj" fmla="val 14706"/>
            </a:avLst>
          </a:prstGeom>
          <a:solidFill>
            <a:srgbClr val="E8F7EC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02920" y="55595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9E44"/>
                </a:solidFill>
              </a:rPr>
              <a:t>วันที่ 5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2395728" y="5486400"/>
            <a:ext cx="475488" cy="475488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32" name="Image 5" descr="icons/che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335" y="5591007"/>
            <a:ext cx="266273" cy="26627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063240" y="554126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B25"/>
                </a:solidFill>
              </a:rPr>
              <a:t>จ่ายเงินเดือน · แจกสลิป · จบงวด — ระบบขึ้นงวดใหม่ให้เอง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272E"/>
                </a:solidFill>
              </a:rPr>
              <a:t>ข้อดีของระบบนี้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636776"/>
            <a:ext cx="512064" cy="512064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5" name="Image 0" descr="icons/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742" y="1749430"/>
            <a:ext cx="286756" cy="2867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" y="2286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ประหยัดเวลามหาศาล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04088" y="26334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จากนั่งรวมโอทีคิดเงินเป็นวันๆ เหลือตรวจ + กดพิมพ์ไม่กี่นาที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8848" y="1636776"/>
            <a:ext cx="512064" cy="512064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0" name="Image 1" descr="icons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502" y="1749430"/>
            <a:ext cx="286756" cy="2867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98848" y="2286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ถูกต้อง โปร่งใส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498848" y="26334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กติกาเดียวกันทุกคน สลิปแจงทุกบาท ลดปัญหาทวงถาม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92440" y="141732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36776"/>
            <a:ext cx="512064" cy="512064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15" name="Image 2" descr="icons/bol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262" y="1749430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93608" y="2286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เรียลไทม์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63347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สแกนปุ๊บเห็นปั๊บ ทุกเครื่อง ทุกสาขา พร้อมกัน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365760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04088" y="3877056"/>
            <a:ext cx="512064" cy="512064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0" name="Image 3" descr="icons/mobi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42" y="3989710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ใช้ได้ทุกอุปกรณ์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04088" y="48737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คอมที่ร้าน หรือ iPhone ของเจ้าของ — หน้าจอปรับเองอัตโนมัติ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97680" y="365760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98848" y="3877056"/>
            <a:ext cx="512064" cy="512064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25" name="Image 4" descr="icons/money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502" y="3989710"/>
            <a:ext cx="286756" cy="2867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98848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ต้นทุนระบบ 0 บาท/เดือน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4498848" y="48737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GitHub Pages + Cloudflare + Supabase ใช้แผนฟรีทั้งหมด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92440" y="3657600"/>
            <a:ext cx="3657600" cy="2057400"/>
          </a:xfrm>
          <a:prstGeom prst="roundRect">
            <a:avLst>
              <a:gd name="adj" fmla="val 5333"/>
            </a:avLst>
          </a:prstGeom>
          <a:solidFill>
            <a:srgbClr val="FBEFDB"/>
          </a:solidFill>
          <a:ln w="12700">
            <a:solidFill>
              <a:srgbClr val="E7D9C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93608" y="3877056"/>
            <a:ext cx="512064" cy="512064"/>
          </a:xfrm>
          <a:prstGeom prst="ellipse">
            <a:avLst/>
          </a:prstGeom>
          <a:solidFill>
            <a:srgbClr val="C4272E"/>
          </a:solidFill>
          <a:ln/>
        </p:spPr>
      </p:sp>
      <p:pic>
        <p:nvPicPr>
          <p:cNvPr id="30" name="Image 5" descr="icons/shiel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262" y="3989710"/>
            <a:ext cx="286756" cy="2867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93608" y="4526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B2B25"/>
                </a:solidFill>
              </a:rPr>
              <a:t>ข้อมูลปลอดภัย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8293608" y="48737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เก็บบนคลาวด์ ไฟไหม้น้ำท่วมข้อมูลไม่หาย + ปุ่มดาวน์โหลดสำรอง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11137392" y="62910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6A5B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E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F9B233"/>
          </a:solidFill>
          <a:ln/>
        </p:spPr>
      </p:sp>
      <p:pic>
        <p:nvPicPr>
          <p:cNvPr id="3" name="Image 0" descr="asse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554480" cy="155448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B233"/>
                </a:solidFill>
              </a:rPr>
              <a:t>เริ่มใช้เลยวันนี้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1755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https://thananant.github.io/JJ-Payroll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278892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9326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B233"/>
                </a:solidFill>
              </a:rPr>
              <a:t>⚠️ ข้อควรจำตอนพิมพ์สลิป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172968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5"/>
                </a:solidFill>
              </a:rPr>
              <a:t>ตั้ง Scale 100% เสมอ · Margins เลือก None หรือ Default ก็ได้ (จูนกับ Canon MF645C แล้ว)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28712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65760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93262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739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B233"/>
                </a:solidFill>
              </a:rPr>
              <a:t>🔄 หลังอัปเดตระบบ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041648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5"/>
                </a:solidFill>
              </a:rPr>
              <a:t>กด Ctrl+Shift+R (คอม) หรือปิด-เปิดแอปใหม่ (iPhone) เพื่อล้าง cache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452628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93262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608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B233"/>
                </a:solidFill>
              </a:rPr>
              <a:t>💾 สำรองข้อมูลสม่ำเสมอ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910328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5"/>
                </a:solidFill>
              </a:rPr>
              <a:t>ปุ่ม "ดาวน์โหลดสำรอง" มุมซ้ายล่าง — เก็บไฟล์ไว้ทุกสิ้นเดือนหลังจ่ายเงินเดือน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46085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5394960"/>
            <a:ext cx="10607040" cy="731520"/>
          </a:xfrm>
          <a:prstGeom prst="roundRect">
            <a:avLst>
              <a:gd name="adj" fmla="val 12500"/>
            </a:avLst>
          </a:prstGeom>
          <a:solidFill>
            <a:srgbClr val="93262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05840" y="54772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B233"/>
                </a:solidFill>
              </a:rPr>
              <a:t>📖 คู่มือฉบับเต็ม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005840" y="5779008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D9D5"/>
                </a:solidFill>
              </a:rPr>
              <a:t>ดูขั้นตอนละเอียดทุกหน้าจอ พร้อมภาพประกอบ ในไฟล์ PDF คู่มือการใช้งาน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0" y="547725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2026-08-27T20:45:28Z</dcterms:created>
  <dcterms:modified xsi:type="dcterms:W3CDTF">2026-08-27T20:45:28Z</dcterms:modified>
</cp:coreProperties>
</file>